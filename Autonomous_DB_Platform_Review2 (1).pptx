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1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DATABASE INTELLIGENCE INITIATIVE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040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OPTIMIZATION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intelligent system: a self-learning, self-healing platform that observes database health in real time, diagnoses issues autonomously, and takes corrective action before performance ever degrades.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16345C"/>
          </a:solidFill>
          <a:ln w="12700">
            <a:solidFill>
              <a:srgbClr val="24476F"/>
            </a:solidFill>
            <a:prstDash val="solid"/>
          </a:ln>
        </p:spPr>
      </p:sp>
      <p:pic>
        <p:nvPicPr>
          <p:cNvPr id="7" name="Image 0" descr="/home/claude/build/icons/ey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52029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623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31720" y="50749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16345C"/>
          </a:solidFill>
          <a:ln w="12700">
            <a:solidFill>
              <a:srgbClr val="24476F"/>
            </a:solidFill>
            <a:prstDash val="solid"/>
          </a:ln>
        </p:spPr>
      </p:sp>
      <p:pic>
        <p:nvPicPr>
          <p:cNvPr id="10" name="Image 1" descr="/home/claude/build/icons/searc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24" y="52029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5623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023360" y="50749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16345C"/>
          </a:solidFill>
          <a:ln w="12700">
            <a:solidFill>
              <a:srgbClr val="24476F"/>
            </a:solidFill>
            <a:prstDash val="solid"/>
          </a:ln>
        </p:spPr>
      </p:sp>
      <p:pic>
        <p:nvPicPr>
          <p:cNvPr id="13" name="Image 2" descr="/home/claude/build/icons/cog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520293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3360" y="5623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715000" y="50749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16345C"/>
          </a:solidFill>
          <a:ln w="12700">
            <a:solidFill>
              <a:srgbClr val="24476F"/>
            </a:solidFill>
            <a:prstDash val="solid"/>
          </a:ln>
        </p:spPr>
      </p:sp>
      <p:pic>
        <p:nvPicPr>
          <p:cNvPr id="16" name="Image 3" descr="/home/claude/build/icons/sync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520293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0" y="5623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701888" y="2377440"/>
            <a:ext cx="2743200" cy="2743200"/>
          </a:xfrm>
          <a:prstGeom prst="ellipse">
            <a:avLst/>
          </a:prstGeom>
          <a:solidFill>
            <a:srgbClr val="0F2A4C"/>
          </a:solidFill>
          <a:ln w="19050">
            <a:solidFill>
              <a:srgbClr val="00B8B0"/>
            </a:solidFill>
            <a:prstDash val="solid"/>
          </a:ln>
        </p:spPr>
      </p:sp>
      <p:pic>
        <p:nvPicPr>
          <p:cNvPr id="20" name="Image 4" descr="/home/claude/build/icons/databas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0568" y="2880360"/>
            <a:ext cx="1005840" cy="1005840"/>
          </a:xfrm>
          <a:prstGeom prst="rect">
            <a:avLst/>
          </a:prstGeom>
        </p:spPr>
      </p:pic>
      <p:pic>
        <p:nvPicPr>
          <p:cNvPr id="21" name="Image 5" descr="/home/claude/build/icons/brain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128" y="1417320"/>
            <a:ext cx="777240" cy="77724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107528" y="1234440"/>
            <a:ext cx="1143000" cy="1143000"/>
          </a:xfrm>
          <a:prstGeom prst="ellipse">
            <a:avLst/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pic>
        <p:nvPicPr>
          <p:cNvPr id="23" name="Image 6" descr="/home/claude/build/icons/brain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6128" y="1463040"/>
            <a:ext cx="685800" cy="6858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896448" y="4206240"/>
            <a:ext cx="1143000" cy="1143000"/>
          </a:xfrm>
          <a:prstGeom prst="ellipse">
            <a:avLst/>
          </a:prstGeom>
          <a:solidFill>
            <a:srgbClr val="16345C"/>
          </a:solidFill>
          <a:ln w="15875">
            <a:solidFill>
              <a:srgbClr val="00B8B0"/>
            </a:solidFill>
            <a:prstDash val="solid"/>
          </a:ln>
        </p:spPr>
      </p:sp>
      <p:pic>
        <p:nvPicPr>
          <p:cNvPr id="25" name="Image 7" descr="/home/claude/build/icons/shield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5048" y="4434840"/>
            <a:ext cx="685800" cy="6858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intelligent, self-managing database infrastructure is now essential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8B0"/>
            </a:solidFill>
            <a:prstDash val="solid"/>
          </a:ln>
        </p:spPr>
      </p:sp>
      <p:pic>
        <p:nvPicPr>
          <p:cNvPr id="6" name="Image 0" descr="/home/claude/build/icons/bel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20665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34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35584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surface only after performance has already degraded or users are complaining.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198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8B0"/>
            </a:solidFill>
            <a:prstDash val="solid"/>
          </a:ln>
        </p:spPr>
      </p:sp>
      <p:pic>
        <p:nvPicPr>
          <p:cNvPr id="11" name="Image 1" descr="/home/claude/build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284" y="20665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834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Overload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75888" y="335584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administrators are stretched thin across growing, distributed database fleets.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4662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8B0"/>
            </a:solidFill>
            <a:prstDash val="solid"/>
          </a:ln>
        </p:spPr>
      </p:sp>
      <p:pic>
        <p:nvPicPr>
          <p:cNvPr id="16" name="Image 2" descr="/home/claude/build/icons/warn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0665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834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Downtime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10528" y="335584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minutes of degraded performance translate directly into lost revenue and trust.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1600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8126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8B0"/>
            </a:solidFill>
            <a:prstDash val="solid"/>
          </a:ln>
        </p:spPr>
      </p:sp>
      <p:pic>
        <p:nvPicPr>
          <p:cNvPr id="21" name="Image 3" descr="/home/claude/build/icons/search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564" y="206654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8592" y="2834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Root-Cause Analysis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45168" y="335584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query bottlenecks and lock contention manually can take hours per incident.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7548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7548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tools raise alarms after the damage is done — teams are left to react under pressure and tune performance through trial and error.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five-layer pipeline that turns raw telemetry into autonomous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8884" y="196596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11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331824" y="2167128"/>
            <a:ext cx="64008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build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840" y="22951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0324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6900" y="3319272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agents &amp; JDBC/ODBC connectors across MySQL, PostgreSQL, MongoDB, Oracle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2653132" y="2866644"/>
            <a:ext cx="219456" cy="16459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2890876" y="196596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11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3553816" y="2167128"/>
            <a:ext cx="64008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build/icons/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832" y="22951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2316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Streaming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18892" y="3319272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store + message queue buffer real-time CPU, I/O, latency &amp; lock telemetry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4875124" y="2866644"/>
            <a:ext cx="219456" cy="16459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12868" y="196596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112A4A"/>
          </a:solidFill>
          <a:ln/>
        </p:spPr>
      </p:sp>
      <p:sp>
        <p:nvSpPr>
          <p:cNvPr id="17" name="Shape 13"/>
          <p:cNvSpPr/>
          <p:nvPr/>
        </p:nvSpPr>
        <p:spPr>
          <a:xfrm>
            <a:off x="5775808" y="2167128"/>
            <a:ext cx="64008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build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24" y="229514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4308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40884" y="3319272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forecasting models score every incoming metric window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7097116" y="2866644"/>
            <a:ext cx="219456" cy="16459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2" name="Shape 17"/>
          <p:cNvSpPr/>
          <p:nvPr/>
        </p:nvSpPr>
        <p:spPr>
          <a:xfrm>
            <a:off x="7334860" y="196596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112A4A"/>
          </a:solidFill>
          <a:ln/>
        </p:spPr>
      </p:sp>
      <p:sp>
        <p:nvSpPr>
          <p:cNvPr id="23" name="Shape 18"/>
          <p:cNvSpPr/>
          <p:nvPr/>
        </p:nvSpPr>
        <p:spPr>
          <a:xfrm>
            <a:off x="7997800" y="2167128"/>
            <a:ext cx="64008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build/icons/co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816" y="229514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630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Action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62876" y="3319272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Self-tuning engine adjusts indexes, query plans &amp; resource allocation</a:t>
            </a:r>
            <a:endParaRPr lang="en-US" sz="870" dirty="0"/>
          </a:p>
        </p:txBody>
      </p:sp>
      <p:sp>
        <p:nvSpPr>
          <p:cNvPr id="27" name="Shape 21"/>
          <p:cNvSpPr/>
          <p:nvPr/>
        </p:nvSpPr>
        <p:spPr>
          <a:xfrm>
            <a:off x="9319108" y="2866644"/>
            <a:ext cx="219456" cy="164592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8" name="Shape 22"/>
          <p:cNvSpPr/>
          <p:nvPr/>
        </p:nvSpPr>
        <p:spPr>
          <a:xfrm>
            <a:off x="9556852" y="1965960"/>
            <a:ext cx="1965960" cy="1965960"/>
          </a:xfrm>
          <a:prstGeom prst="roundRect">
            <a:avLst>
              <a:gd name="adj" fmla="val 4186"/>
            </a:avLst>
          </a:prstGeom>
          <a:solidFill>
            <a:srgbClr val="00B8B0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19792" y="2167128"/>
            <a:ext cx="64008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/home/claude/build/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808" y="2295144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8292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API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684868" y="3319272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cross-engine view, alerts, and audit trail for DBA teams</a:t>
            </a:r>
            <a:endParaRPr lang="en-US" sz="870" dirty="0"/>
          </a:p>
        </p:txBody>
      </p:sp>
      <p:sp>
        <p:nvSpPr>
          <p:cNvPr id="33" name="Text 26"/>
          <p:cNvSpPr/>
          <p:nvPr/>
        </p:nvSpPr>
        <p:spPr>
          <a:xfrm>
            <a:off x="668884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2890876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112868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33486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9556852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651864" y="3931920"/>
            <a:ext cx="0" cy="320040"/>
          </a:xfrm>
          <a:prstGeom prst="line">
            <a:avLst/>
          </a:prstGeom>
          <a:noFill/>
          <a:ln w="25400">
            <a:solidFill>
              <a:srgbClr val="00B8B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539832" y="3931920"/>
            <a:ext cx="0" cy="320040"/>
          </a:xfrm>
          <a:prstGeom prst="line">
            <a:avLst/>
          </a:prstGeom>
          <a:noFill/>
          <a:ln w="25400">
            <a:solidFill>
              <a:srgbClr val="00B8B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651864" y="4251960"/>
            <a:ext cx="8887968" cy="0"/>
          </a:xfrm>
          <a:prstGeom prst="line">
            <a:avLst/>
          </a:prstGeom>
          <a:noFill/>
          <a:ln w="25400">
            <a:solidFill>
              <a:srgbClr val="00B8B0"/>
            </a:solidFill>
            <a:prstDash val="dash"/>
            <a:headEnd type="triangle"/>
          </a:ln>
        </p:spPr>
      </p:sp>
      <p:sp>
        <p:nvSpPr>
          <p:cNvPr id="41" name="Text 34"/>
          <p:cNvSpPr/>
          <p:nvPr/>
        </p:nvSpPr>
        <p:spPr>
          <a:xfrm>
            <a:off x="668884" y="4361688"/>
            <a:ext cx="10853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— outcomes retrain the intelligence layer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40080" y="580644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68680" y="580644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 </a:t>
            </a:r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architecture on Docker/Kubernetes, scaling horizontally with the monitored database fleet.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on ML-driven database tuning, query optimization, and self-healing systems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911535" cy="416052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  <a:gridCol w="60624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 /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Aken et al., 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OtterTune (CMU)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(Gaussian Processes)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DBMS knob tuning from historical workloads — but static, config-only; no real-time anomaly response.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CDBTune+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(DDPG), end-to-end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Tunes cloud DB configs automatically — needs costly repeated workload replay; coarse-grained (read/write only).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Query-aware Deep 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Finer-grained, query-level tuning improving on CDBTune — still limited to configuration, not full-stack monitoring.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 et al.,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Bao (MIT / Microsoft)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Bandit RL + Tree-CNN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(Thompson Sampling)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query-plan hints, adapts to workload/schema drift — scoped only to query optimization, not anomaly detection.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(arXiv)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Meta-Learning Self-Healing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MAML + GNN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Multi-objective 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to combine anomaly detection, failure prediction &amp; recovery — notes no prior work integrates all three end-to-end.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SIGMOD 2017 (OtterTune), VLDB Journal 2021 (CDBTune+), VLDB 2019 (QTune), SIGMOD 2021 (Bao), arXiv 2507.13757 (2025).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systems still don't solve — and where this project fits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PRIOR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E4572E"/>
            </a:solidFill>
            <a:prstDash val="solid"/>
          </a:ln>
        </p:spPr>
      </p:sp>
      <p:pic>
        <p:nvPicPr>
          <p:cNvPr id="6" name="Image 0" descr="/home/claude/build/icons/unlink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848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385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optimization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223113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tunes one layer only — configs (OtterTune, CDBTune) or query plans (Bao) — never the full monitor-diagnose-act pipeline.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502920" cy="50292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E4572E"/>
            </a:solidFill>
            <a:prstDash val="solid"/>
          </a:ln>
        </p:spPr>
      </p:sp>
      <p:pic>
        <p:nvPicPr>
          <p:cNvPr id="10" name="Image 1" descr="/home/claude/build/icons/history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72384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26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not live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25880" y="32186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tuning relies on replaying recorded workloads or benchmarks rather than reacting to continuous production telemetry.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E4572E"/>
            </a:solidFill>
            <a:prstDash val="solid"/>
          </a:ln>
        </p:spPr>
      </p:sp>
      <p:pic>
        <p:nvPicPr>
          <p:cNvPr id="14" name="Image 2" descr="/home/claude/build/icons/database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59936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913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Single-engine scope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25880" y="4206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OtterTune, CDBTune and QTune target one relational engine (PostgreSQL/MySQL); little cross-engine or NoSQL support.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640080" y="4928616"/>
            <a:ext cx="502920" cy="50292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E4572E"/>
            </a:solidFill>
            <a:prstDash val="solid"/>
          </a:ln>
        </p:spPr>
      </p:sp>
      <p:pic>
        <p:nvPicPr>
          <p:cNvPr id="18" name="Image 3" descr="/home/claude/build/icons/lock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47488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9011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autonomy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25880" y="51937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frameworks pair autonomous action with closed-loop verification and rollback guardrails for safety.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6492240" y="1554480"/>
            <a:ext cx="5150815" cy="4434840"/>
          </a:xfrm>
          <a:prstGeom prst="roundRect">
            <a:avLst>
              <a:gd name="adj" fmla="val 1856"/>
            </a:avLst>
          </a:prstGeom>
          <a:solidFill>
            <a:srgbClr val="0B1F3A"/>
          </a:solidFill>
          <a:ln/>
        </p:spPr>
      </p:sp>
      <p:sp>
        <p:nvSpPr>
          <p:cNvPr id="22" name="Text 16"/>
          <p:cNvSpPr/>
          <p:nvPr/>
        </p:nvSpPr>
        <p:spPr>
          <a:xfrm>
            <a:off x="681228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ADDRESSES IT</a:t>
            </a:r>
            <a:endParaRPr lang="en-US" sz="1050" dirty="0"/>
          </a:p>
        </p:txBody>
      </p:sp>
      <p:pic>
        <p:nvPicPr>
          <p:cNvPr id="23" name="Image 4" descr="/home/claude/build/icons/sync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331720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22860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closed loop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269480" y="2551176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spans collection through self-healing (Observe→Detect→Diagnose→Decide→Act→Verify), not just tuning.</a:t>
            </a:r>
            <a:endParaRPr lang="en-US" sz="930" dirty="0"/>
          </a:p>
        </p:txBody>
      </p:sp>
      <p:pic>
        <p:nvPicPr>
          <p:cNvPr id="26" name="Image 5" descr="/home/claude/build/icons/bolt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24612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32004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not offline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7269480" y="3465576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driven by continuous real-time telemetry, not replayed workload traces.</a:t>
            </a:r>
            <a:endParaRPr lang="en-US" sz="930" dirty="0"/>
          </a:p>
        </p:txBody>
      </p:sp>
      <p:pic>
        <p:nvPicPr>
          <p:cNvPr id="29" name="Image 6" descr="/home/claude/build/icons/network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4160520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69480" y="41148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Cross-engine by design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7269480" y="4379976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intelligence layer reasons across relational and NoSQL systems under a shared model.</a:t>
            </a:r>
            <a:endParaRPr lang="en-US" sz="930" dirty="0"/>
          </a:p>
        </p:txBody>
      </p:sp>
      <p:pic>
        <p:nvPicPr>
          <p:cNvPr id="32" name="Image 7" descr="/home/claude/build/icons/shield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5074920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69480" y="50292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autonomy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7269480" y="5294376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action is verified post-execution, with rollback if it doesn't improve the target metric.</a:t>
            </a:r>
            <a:endParaRPr lang="en-US" sz="930" dirty="0"/>
          </a:p>
        </p:txBody>
      </p:sp>
      <p:sp>
        <p:nvSpPr>
          <p:cNvPr id="35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platform is useful — and what makes it different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00B8B0"/>
            </a:solidFill>
            <a:prstDash val="solid"/>
          </a:ln>
        </p:spPr>
      </p:sp>
      <p:pic>
        <p:nvPicPr>
          <p:cNvPr id="6" name="Image 0" descr="/home/claude/build/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34440" y="21396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flags deviations within seconds of onset, not after user impact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00B8B0"/>
            </a:solidFill>
            <a:prstDash val="solid"/>
          </a:ln>
        </p:spPr>
      </p:sp>
      <p:pic>
        <p:nvPicPr>
          <p:cNvPr id="10" name="Image 1" descr="/home/claude/build/icons/wren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07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manual fixes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34440" y="29169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tuning (indexes, plans, resources) handled without DBA intervention</a:t>
            </a:r>
            <a:endParaRPr lang="en-US" sz="970" dirty="0"/>
          </a:p>
        </p:txBody>
      </p:sp>
      <p:sp>
        <p:nvSpPr>
          <p:cNvPr id="13" name="Shape 9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00B8B0"/>
            </a:solidFill>
            <a:prstDash val="solid"/>
          </a:ln>
        </p:spPr>
      </p:sp>
      <p:pic>
        <p:nvPicPr>
          <p:cNvPr id="14" name="Image 2" descr="/home/claude/build/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844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uptime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234440" y="36941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schedules corrective action before failure occurs</a:t>
            </a:r>
            <a:endParaRPr lang="en-US" sz="970" dirty="0"/>
          </a:p>
        </p:txBody>
      </p:sp>
      <p:sp>
        <p:nvSpPr>
          <p:cNvPr id="17" name="Shape 12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4F6F8"/>
          </a:solidFill>
          <a:ln w="15875">
            <a:solidFill>
              <a:srgbClr val="00B8B0"/>
            </a:solidFill>
            <a:prstDash val="solid"/>
          </a:ln>
        </p:spPr>
      </p:sp>
      <p:pic>
        <p:nvPicPr>
          <p:cNvPr id="18" name="Image 3" descr="/home/claude/build/icons/search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361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234440" y="44714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correlation replaces manual log-diving during incidents</a:t>
            </a:r>
            <a:endParaRPr lang="en-US" sz="970" dirty="0"/>
          </a:p>
        </p:txBody>
      </p:sp>
      <p:sp>
        <p:nvSpPr>
          <p:cNvPr id="21" name="Text 15"/>
          <p:cNvSpPr/>
          <p:nvPr/>
        </p:nvSpPr>
        <p:spPr>
          <a:xfrm>
            <a:off x="640080" y="5074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targets for the autonomous pipeline now under development — to be validated against live workload benchmarks.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492240" y="1554480"/>
            <a:ext cx="5150815" cy="4434840"/>
          </a:xfrm>
          <a:prstGeom prst="roundRect">
            <a:avLst>
              <a:gd name="adj" fmla="val 1856"/>
            </a:avLst>
          </a:prstGeom>
          <a:solidFill>
            <a:srgbClr val="0B1F3A"/>
          </a:solidFill>
          <a:ln/>
        </p:spPr>
      </p:sp>
      <p:sp>
        <p:nvSpPr>
          <p:cNvPr id="23" name="Text 17"/>
          <p:cNvSpPr/>
          <p:nvPr/>
        </p:nvSpPr>
        <p:spPr>
          <a:xfrm>
            <a:off x="681228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12280" y="2121408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reimagines database administration — shifting it from reactive firefighting to continuous, intelligent self-management that observes, decides, and acts on its own.</a:t>
            </a:r>
            <a:endParaRPr lang="en-US" sz="1250" dirty="0"/>
          </a:p>
        </p:txBody>
      </p:sp>
      <p:pic>
        <p:nvPicPr>
          <p:cNvPr id="25" name="Image 4" descr="/home/claude/build/icons/sync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20040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69480" y="315468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autonomy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269480" y="3419856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Detects, decides and remediates in one continuous cycle — not just alerting.</a:t>
            </a:r>
            <a:endParaRPr lang="en-US" sz="950" dirty="0"/>
          </a:p>
        </p:txBody>
      </p:sp>
      <p:pic>
        <p:nvPicPr>
          <p:cNvPr id="28" name="Image 5" descr="/home/claude/build/icons/network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97764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69480" y="39319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Cross-engine intelligence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7269480" y="4197096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reasoning layer spans relational and NoSQL systems, not siloed tools.</a:t>
            </a:r>
            <a:endParaRPr lang="en-US" sz="950" dirty="0"/>
          </a:p>
        </p:txBody>
      </p:sp>
      <p:pic>
        <p:nvPicPr>
          <p:cNvPr id="31" name="Image 6" descr="/home/claude/build/icons/brain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4754880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69480" y="470916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not reactive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7269480" y="4974336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capacity and failure risk days ahead of time.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6812280" y="5577840"/>
            <a:ext cx="4510735" cy="0"/>
          </a:xfrm>
          <a:prstGeom prst="line">
            <a:avLst/>
          </a:prstGeom>
          <a:noFill/>
          <a:ln w="12700">
            <a:solidFill>
              <a:srgbClr val="24476F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812280" y="5696712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hybrid &amp; multi-cloud, zero-touch database operations.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2026-08-24T03:29:54Z</dcterms:created>
  <dcterms:modified xsi:type="dcterms:W3CDTF">2026-08-24T03:29:54Z</dcterms:modified>
</cp:coreProperties>
</file>